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LINEAR ALGEBRA &amp; DATA SCIENCE EXPLORER</a:t>
            </a:r>
          </a:p>
          <a:p>
            <a:pPr>
              <a:spcBef>
                <a:spcPts val="1200"/>
              </a:spcBef>
            </a:pPr>
            <a:r>
              <a:rPr sz="1800">
                <a:solidFill>
                  <a:srgbClr val="7C3AED"/>
                </a:solidFill>
                <a:latin typeface="Calibri"/>
              </a:rPr>
              <a:t>Interactive Python &amp; Django Web Solvers for 6 Core Linear Algebra Concepts</a:t>
            </a:r>
          </a:p>
          <a:p>
            <a:pPr>
              <a:spcBef>
                <a:spcPts val="3000"/>
              </a:spcBef>
            </a:pPr>
            <a:r>
              <a:rPr sz="1400">
                <a:solidFill>
                  <a:srgbClr val="94A3B8"/>
                </a:solidFill>
                <a:latin typeface="Calibri"/>
              </a:rPr>
              <a:t>Project Team: Parth &amp; Hariom  |  Live App: https://linear-algebra-website.vercel.app/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100" b="1">
                <a:solidFill>
                  <a:srgbClr val="7C3AED"/>
                </a:solidFill>
                <a:latin typeface="Calibri"/>
              </a:rPr>
              <a:t>LINEAR ALGEBRA &amp; DATA SCIENCE EXPLORER</a:t>
            </a:r>
          </a:p>
          <a:p>
            <a:r>
              <a:rPr sz="2400" b="1">
                <a:solidFill>
                  <a:srgbClr val="FFFFFF"/>
                </a:solidFill>
                <a:latin typeface="Calibri"/>
              </a:rPr>
              <a:t>Project Motivation &amp; Academic Objectives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🎯 Core Objectives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FFFFFF"/>
                </a:solidFill>
              </a:rPr>
              <a:t>• Bridge mathematical theory with computational Python logic.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FFFFFF"/>
                </a:solidFill>
              </a:rPr>
              <a:t>• Implement 6 core Linear Algebra concepts with step-by-step derivations.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FFFFFF"/>
                </a:solidFill>
              </a:rPr>
              <a:t>• Provide automatic LaTeX formatting and interactive 3D visualizers.</a:t>
            </a:r>
          </a:p>
          <a:p>
            <a:pPr>
              <a:spcBef>
                <a:spcPts val="1000"/>
              </a:spcBef>
            </a:pPr>
            <a:r>
              <a:rPr sz="1300">
                <a:solidFill>
                  <a:srgbClr val="FFFFFF"/>
                </a:solidFill>
              </a:rPr>
              <a:t>• Deliver professional PDF solution reports for students &amp; educators.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👥 Project Team &amp; Roles</a:t>
            </a:r>
          </a:p>
          <a:p>
            <a:pPr>
              <a:spcBef>
                <a:spcPts val="1200"/>
              </a:spcBef>
            </a:pPr>
            <a:r>
              <a:rPr sz="1300">
                <a:solidFill>
                  <a:srgbClr val="FFFFFF"/>
                </a:solidFill>
              </a:rPr>
              <a:t>• Parth (Lead Developer): Core Django architecture, SymPy symbolic math solver engines, matrix decomposition algorithms, PDF generation.</a:t>
            </a:r>
          </a:p>
          <a:p>
            <a:pPr>
              <a:spcBef>
                <a:spcPts val="1200"/>
              </a:spcBef>
            </a:pPr>
            <a:r>
              <a:rPr sz="1300">
                <a:solidFill>
                  <a:srgbClr val="FFFFFF"/>
                </a:solidFill>
              </a:rPr>
              <a:t>• Hariom (Co-Developer): Frontend UI/UX glassmorphism design, Bootstrap 5 integration, 3D Canvas orbital visualizer, MathJax LaTeX rendering.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100" b="1">
                <a:solidFill>
                  <a:srgbClr val="7C3AED"/>
                </a:solidFill>
                <a:latin typeface="Calibri"/>
              </a:rPr>
              <a:t>LINEAR ALGEBRA &amp; DATA SCIENCE EXPLORER</a:t>
            </a:r>
          </a:p>
          <a:p>
            <a:r>
              <a:rPr sz="2400" b="1">
                <a:solidFill>
                  <a:srgbClr val="FFFFFF"/>
                </a:solidFill>
                <a:latin typeface="Calibri"/>
              </a:rPr>
              <a:t>Complete Technology Stack Breakdown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/>
            <a:r>
              <a:rPr b="1" sz="1400">
                <a:solidFill>
                  <a:srgbClr val="7C3AED"/>
                </a:solidFill>
              </a:rPr>
              <a:t>Python 3.14 &amp; Django 6.0 — </a:t>
            </a:r>
            <a:r>
              <a:rPr sz="1200">
                <a:solidFill>
                  <a:srgbClr val="FFFFFF"/>
                </a:solidFill>
              </a:rPr>
              <a:t>Backend web application framework handling request routing, view controllers, and HTTP dispatching.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/>
            <a:r>
              <a:rPr b="1" sz="1400">
                <a:solidFill>
                  <a:srgbClr val="7C3AED"/>
                </a:solidFill>
              </a:rPr>
              <a:t>SymPy 1.14 &amp; NumPy 2.2 — </a:t>
            </a:r>
            <a:r>
              <a:rPr sz="1200">
                <a:solidFill>
                  <a:srgbClr val="FFFFFF"/>
                </a:solidFill>
              </a:rPr>
              <a:t>Symbolic math computation engine for exact fractions, determinants, RREF, eigenvalues, and vector dot/cross products.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/>
            <a:r>
              <a:rPr b="1" sz="1400">
                <a:solidFill>
                  <a:srgbClr val="7C3AED"/>
                </a:solidFill>
              </a:rPr>
              <a:t>Bootstrap 5.3 + Vanilla CSS — </a:t>
            </a:r>
            <a:r>
              <a:rPr sz="1200">
                <a:solidFill>
                  <a:srgbClr val="FFFFFF"/>
                </a:solidFill>
              </a:rPr>
              <a:t>Custom glassmorphism design system supporting dynamic Light &amp; Dark theme switching.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/>
            <a:r>
              <a:rPr b="1" sz="1400">
                <a:solidFill>
                  <a:srgbClr val="7C3AED"/>
                </a:solidFill>
              </a:rPr>
              <a:t>MathJax LaTeX &amp; HTML5 Canvas — </a:t>
            </a:r>
            <a:r>
              <a:rPr sz="1200">
                <a:solidFill>
                  <a:srgbClr val="FFFFFF"/>
                </a:solidFill>
              </a:rPr>
              <a:t>Renders mathematical formulas client-side and provides interactive 3D vector rotation canvases.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37160"/>
          <a:lstStyle/>
          <a:p>
            <a:pPr algn="ctr"/>
            <a:r>
              <a:rPr b="1" sz="1400">
                <a:solidFill>
                  <a:srgbClr val="7C3AED"/>
                </a:solidFill>
              </a:rPr>
              <a:t>Supabase Auth &amp; Vercel Cloud — </a:t>
            </a:r>
            <a:r>
              <a:rPr sz="1200">
                <a:solidFill>
                  <a:srgbClr val="FFFFFF"/>
                </a:solidFill>
              </a:rPr>
              <a:t>User authentication service (PostgreSQL) and serverless function cloud deployment.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100" b="1">
                <a:solidFill>
                  <a:srgbClr val="7C3AED"/>
                </a:solidFill>
                <a:latin typeface="Calibri"/>
              </a:rPr>
              <a:t>LINEAR ALGEBRA &amp; DATA SCIENCE EXPLORER</a:t>
            </a:r>
          </a:p>
          <a:p>
            <a:r>
              <a:rPr sz="2400" b="1">
                <a:solidFill>
                  <a:srgbClr val="FFFFFF"/>
                </a:solidFill>
                <a:latin typeface="Calibri"/>
              </a:rPr>
              <a:t>Solvers 1 &amp; 2: Gaussian Elimination &amp; GF(2) Field Axioms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1. Gaussian Elimination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Solves [A | b] using elementary row operations.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Reduces matrix to Row Echelon Form (REF) &amp; RREF.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Detects Unique Solution, Infinite Solutions, or Inconsistent No Solution.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Data Science: Solving normal equations in Linear Regression.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2. Field Axioms via GF(2)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Verifies 11 Field Axioms on Galois Field {0, 1}.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Addition = XOR (+ mod 2), Multiplication = AND (. mod 2).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Proves 1 + 1 = 0 mod 2 (additive inverse -1 = 1).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Data Science / CS: Cryptography (AES) &amp; Error-Correcting Codes.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100" b="1">
                <a:solidFill>
                  <a:srgbClr val="7C3AED"/>
                </a:solidFill>
                <a:latin typeface="Calibri"/>
              </a:rPr>
              <a:t>LINEAR ALGEBRA &amp; DATA SCIENCE EXPLORER</a:t>
            </a:r>
          </a:p>
          <a:p>
            <a:r>
              <a:rPr sz="2400" b="1">
                <a:solidFill>
                  <a:srgbClr val="FFFFFF"/>
                </a:solidFill>
                <a:latin typeface="Calibri"/>
              </a:rPr>
              <a:t>Solvers 3 &amp; 4: 3D Vector Operations &amp; Gram-Schmidt Process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3. 3D Vector Operations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Computes Dot Product (v1 . v2), Angle theta, Cross Product (v1 x v2), and Projection proj_v2(v1).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Interactive 3D Orbit Canvas with point coordinates &amp; zoom.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Data Science: Cosine Similarity in NLP &amp; Attention Mechanisms in Transformers.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4. Gram-Schmidt Process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Transforms independent vectors into orthogonal &amp; orthonormal basis.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Subtracts vector projections sequentially: uk = vk - sum(proj_uj(vk)).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Computes Inner Product Matrix to prove orthogonality (off-diagonal = 0).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Data Science: QR Decomposition &amp; Dimensionality Reduction.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100" b="1">
                <a:solidFill>
                  <a:srgbClr val="7C3AED"/>
                </a:solidFill>
                <a:latin typeface="Calibri"/>
              </a:rPr>
              <a:t>LINEAR ALGEBRA &amp; DATA SCIENCE EXPLORER</a:t>
            </a:r>
          </a:p>
          <a:p>
            <a:r>
              <a:rPr sz="2400" b="1">
                <a:solidFill>
                  <a:srgbClr val="FFFFFF"/>
                </a:solidFill>
                <a:latin typeface="Calibri"/>
              </a:rPr>
              <a:t>Solvers 5 &amp; 6: Cofactor Expansion &amp; Matrix Diagonalization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5. Cofactor Expansion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Calculates det(A) along any chosen row or column.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Constructs minor submatrices Mij and checkerboard signs (-1)^(i+j).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Computes cofactors C_ij and term contributions.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Data Science: Matrix invertibility testing &amp; volume transformation scaling.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12064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6. Matrix Diagonalization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Decomposes A into A = P D P^-1.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Solves characteristic polynomial det(A - lambda*I) = 0 for eigenvalues.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Computes eigenspace basis vectors and verifies GM(lambda) == AM(lambda).</a:t>
            </a:r>
          </a:p>
          <a:p>
            <a:pPr>
              <a:spcBef>
                <a:spcPts val="800"/>
              </a:spcBef>
            </a:pPr>
            <a:r>
              <a:rPr sz="1200">
                <a:solidFill>
                  <a:srgbClr val="FFFFFF"/>
                </a:solidFill>
              </a:rPr>
              <a:t>• Data Science: Principal Component Analysis (PCA) &amp; PageRank Algorithm.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r>
              <a:rPr sz="1100" b="1">
                <a:solidFill>
                  <a:srgbClr val="7C3AED"/>
                </a:solidFill>
                <a:latin typeface="Calibri"/>
              </a:rPr>
              <a:t>LINEAR ALGEBRA &amp; DATA SCIENCE EXPLORER</a:t>
            </a:r>
          </a:p>
          <a:p>
            <a:r>
              <a:rPr sz="2400" b="1">
                <a:solidFill>
                  <a:srgbClr val="FFFFFF"/>
                </a:solidFill>
                <a:latin typeface="Calibri"/>
              </a:rPr>
              <a:t>Viva Voce Oral Exam Defense Preparation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572000"/>
          </a:xfrm>
          <a:prstGeom prst="roundRect">
            <a:avLst/>
          </a:prstGeom>
          <a:solidFill>
            <a:srgbClr val="1E293B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💡 Top Viva Voce Questions &amp; Answers</a:t>
            </a:r>
          </a:p>
          <a:p>
            <a:pPr>
              <a:spcBef>
                <a:spcPts val="1000"/>
              </a:spcBef>
            </a:pPr>
            <a:r>
              <a:rPr b="1" sz="1300">
                <a:solidFill>
                  <a:srgbClr val="7C3AED"/>
                </a:solidFill>
              </a:rPr>
              <a:t>Q: Why SymPy for Math Engine?
</a:t>
            </a:r>
            <a:r>
              <a:rPr sz="1200">
                <a:solidFill>
                  <a:srgbClr val="FFFFFF"/>
                </a:solidFill>
              </a:rPr>
              <a:t>A: SymPy provides exact symbolic fractions (e.g. 1/3 instead of 0.333) and exact LaTeX rendering.</a:t>
            </a:r>
          </a:p>
          <a:p>
            <a:pPr>
              <a:spcBef>
                <a:spcPts val="1000"/>
              </a:spcBef>
            </a:pPr>
            <a:r>
              <a:rPr b="1" sz="1300">
                <a:solidFill>
                  <a:srgbClr val="7C3AED"/>
                </a:solidFill>
              </a:rPr>
              <a:t>Q: When is A NOT diagonalizable?
</a:t>
            </a:r>
            <a:r>
              <a:rPr sz="1200">
                <a:solidFill>
                  <a:srgbClr val="FFFFFF"/>
                </a:solidFill>
              </a:rPr>
              <a:t>A: When Geometric Multiplicity GM(lambda) &lt; Algebraic Multiplicity AM(lambda) for any eigenvalue.</a:t>
            </a:r>
          </a:p>
          <a:p>
            <a:pPr>
              <a:spcBef>
                <a:spcPts val="1000"/>
              </a:spcBef>
            </a:pPr>
            <a:r>
              <a:rPr b="1" sz="1300">
                <a:solidFill>
                  <a:srgbClr val="7C3AED"/>
                </a:solidFill>
              </a:rPr>
              <a:t>Q: What does det(A) = 0 mean?
</a:t>
            </a:r>
            <a:r>
              <a:rPr sz="1200">
                <a:solidFill>
                  <a:srgbClr val="FFFFFF"/>
                </a:solidFill>
              </a:rPr>
              <a:t>A: Matrix is singular (non-invertible) and collapses space to lower dimension.</a:t>
            </a:r>
          </a:p>
          <a:p>
            <a:pPr>
              <a:spcBef>
                <a:spcPts val="1000"/>
              </a:spcBef>
            </a:pPr>
            <a:r>
              <a:rPr b="1" sz="1300">
                <a:solidFill>
                  <a:srgbClr val="7C3AED"/>
                </a:solidFill>
              </a:rPr>
              <a:t>Q: Why GF(2) in CS?
</a:t>
            </a:r>
            <a:r>
              <a:rPr sz="1200">
                <a:solidFill>
                  <a:srgbClr val="FFFFFF"/>
                </a:solidFill>
              </a:rPr>
              <a:t>A: Formulates binary logic XOR gates, AES cryptography, and error-correcting codes.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